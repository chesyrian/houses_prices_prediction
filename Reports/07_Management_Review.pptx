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Ames Housing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Prediction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  ·  Detailed analysis for decision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16304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297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0.129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4846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RMSE (log)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420624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163040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4297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$29.3k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4846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RMSE ($)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420624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163040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4297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09360" y="4846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R²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52560" y="420624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163040"/>
          </a:solidFill>
          <a:ln/>
        </p:spPr>
      </p:sp>
      <p:sp>
        <p:nvSpPr>
          <p:cNvPr id="17" name="Text 15"/>
          <p:cNvSpPr/>
          <p:nvPr/>
        </p:nvSpPr>
        <p:spPr>
          <a:xfrm>
            <a:off x="9052560" y="4297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52560" y="4846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Team  · 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AMES HOUSING  ·  PRICE PREDICTION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62495" y="1645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roadmap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5623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3716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3075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&amp; decision ask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645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at a glance and what we need from management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5623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5146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24505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context &amp; data profile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788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success criteria, sample, missingness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5623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6576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5935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drives sale price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931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Correlations, neighborhood, quality, size, age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5623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48006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47365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pipeline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5074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Engineering, selection path, final 80 features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1143000"/>
            <a:ext cx="5623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92240" y="13716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223760" y="13075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training &amp; validation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23760" y="1645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Algorithms, CV scores, residuals, ensemble logic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09360" y="2286000"/>
            <a:ext cx="5623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92240" y="25146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223760" y="24505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predictions &amp; artifacts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223760" y="2788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distribution, delivery package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09360" y="3429000"/>
            <a:ext cx="5623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92240" y="36576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223760" y="35935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&amp; next steps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23760" y="3931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Deploy, monitor, improve — owners and timing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Review  ·  Confidential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180015" y="65836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AMES HOUSING  ·  PRICE PREDICTION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62495" y="1645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ensemble with ~$29k typical absolute error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51560"/>
            <a:ext cx="91440" cy="12801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234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0.129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85800" y="1783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RMSE (log)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105156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051560"/>
            <a:ext cx="91440" cy="128016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1234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$29,250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11880" y="1783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RMSE (USD)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105156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051560"/>
            <a:ext cx="91440" cy="12801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234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$15,200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537960" y="1783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MAE (USD)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35440" y="105156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35440" y="1051560"/>
            <a:ext cx="91440" cy="1280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64040" y="1234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464040" y="1783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R²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56032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1B3A4B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269748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ASK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30175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deployment of the 4-model ensemble (HistGradientBoosting + Ridge + RandomForest + GradientBoosting) for batch valuation scoring.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typical absolute error $15k–$30k on homes in the $100k–$250k band. Full pipeline, models, and submission file are ready for use.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4206240"/>
            <a:ext cx="36576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4343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drivers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47548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OverallQual, TotalSF (engineered), HouseAge, GarageCars, KitchenQual / ExterQual. Quality and size explain most of the variance.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297680" y="4206240"/>
            <a:ext cx="36576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480560" y="4343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integrity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480560" y="47548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imputation, encoding, and selection fit on train only. 212 engineered features reduced to 80 via variance, correlation, and RFE without CV loss.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38160" y="4206240"/>
            <a:ext cx="36576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321040" y="4343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risks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21040" y="47548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extreme GrLivArea outliers; sparse luxury features (pool, tennis). Tree models already dampen their influence. Monitor residual drift post-deploy.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Review  ·  Confidential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180015" y="65836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AMES HOUSING  ·  PRICE PREDICTION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62495" y="1645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transparent, reproducible automated valuation model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6235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22860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SalePrice for held-out Ames homes with accuracy suitable for listing guidance and portfolio screening. Output must be explainable and fully auditable.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097280"/>
            <a:ext cx="56235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097280"/>
            <a:ext cx="109728" cy="22860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29400" y="18745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log-RMSE ≤ 0.14 and absolute RMSE competitive with industry AVMs (roughly 10–18% of median price). Clear feature importance for stakeholders.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56235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566160"/>
            <a:ext cx="109728" cy="22860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&amp; decision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43434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go/no-go on internal deployment. Secondary use: optional public leaderboard submission for external benchmarking.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0" y="3566160"/>
            <a:ext cx="56235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3566160"/>
            <a:ext cx="109728" cy="22860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29400" y="43434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data sources. Only the provided 2006–2010 Ames train/test files. Strict train-only fitting to prevent leakage. Reproducible notebooks required.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Review  ·  Confidential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180015" y="65836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AMES HOUSING  ·  PRICE PREDICTION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62495" y="1645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PROFILE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1,460 labeled + 1,459 test homes · informative missingness, not random gaps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18745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0972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1,460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1645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homes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1005840"/>
            <a:ext cx="18745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31720" y="10972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1,459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331720" y="1645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homes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005840"/>
            <a:ext cx="18745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97680" y="10972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297680" y="1645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1005840"/>
            <a:ext cx="18745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63640" y="10972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$163k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63640" y="1645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price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0" y="1005840"/>
            <a:ext cx="18745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0" y="10972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$181k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29600" y="1645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price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195560" y="1005840"/>
            <a:ext cx="18745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195560" y="10972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1.88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195560" y="1645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skew</a:t>
            </a:r>
            <a:endParaRPr lang="en-US" sz="1100" dirty="0"/>
          </a:p>
        </p:txBody>
      </p:sp>
      <p:pic>
        <p:nvPicPr>
          <p:cNvPr id="25" name="Image 0" descr="/home/workdir/artifacts/Reports/eda_figures/02_saleprice_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286000"/>
            <a:ext cx="5760720" cy="3840480"/>
          </a:xfrm>
          <a:prstGeom prst="rect">
            <a:avLst/>
          </a:prstGeom>
        </p:spPr>
      </p:pic>
      <p:pic>
        <p:nvPicPr>
          <p:cNvPr id="26" name="Image 1" descr="/home/workdir/artifacts/Reports/eda_figures/01_missingn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286000"/>
            <a:ext cx="5486400" cy="384048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572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Review  ·  Confidential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10180015" y="65836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AMES HOUSING  ·  PRICE PREDICTION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62495" y="1645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and living area dominate — correlation with SalePrice</a:t>
            </a:r>
            <a:endParaRPr lang="en-US" sz="1800" dirty="0"/>
          </a:p>
        </p:txBody>
      </p:sp>
      <p:pic>
        <p:nvPicPr>
          <p:cNvPr id="7" name="Image 0" descr="/home/workdir/artifacts/Reports/eda_figures/03_corr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943600" cy="5029200"/>
          </a:xfrm>
          <a:prstGeom prst="rect">
            <a:avLst/>
          </a:prstGeom>
        </p:spPr>
      </p:pic>
      <p:pic>
        <p:nvPicPr>
          <p:cNvPr id="8" name="Image 1" descr="/home/workdir/artifacts/Reports/eda_figures/05_key_relationshi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005840"/>
            <a:ext cx="5577840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Review  ·  Confidential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0180015" y="65836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AMES HOUSING  ·  PRICE PREDICTION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62495" y="1645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TIME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Neighborhood premiums and construction era both matter after quality is controlled</a:t>
            </a:r>
            <a:endParaRPr lang="en-US" sz="1700" dirty="0"/>
          </a:p>
        </p:txBody>
      </p:sp>
      <p:pic>
        <p:nvPicPr>
          <p:cNvPr id="7" name="Image 0" descr="/home/workdir/artifacts/Reports/eda_figures/06_neighborh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7498080" cy="5029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955280" y="1005840"/>
            <a:ext cx="3840480" cy="5029200"/>
          </a:xfrm>
          <a:prstGeom prst="roundRect">
            <a:avLst>
              <a:gd name="adj" fmla="val 2381"/>
            </a:avLst>
          </a:prstGeom>
          <a:solidFill>
            <a:srgbClr val="1B3A4B"/>
          </a:solidFill>
          <a:ln/>
        </p:spPr>
      </p:sp>
      <p:sp>
        <p:nvSpPr>
          <p:cNvPr id="9" name="Text 6"/>
          <p:cNvSpPr/>
          <p:nvPr/>
        </p:nvSpPr>
        <p:spPr>
          <a:xfrm>
            <a:off x="818388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83880" y="17373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neighborhoods (NoRidge, NridgHt, StoneBr) command 2× the median of lower-tier areas.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183880" y="31089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construction and recent remodels show clear price premiums. Mild seasonality by month sold is secondary to quality and size.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83880" y="47548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HouseAge and RemodAge capture these effects more cleanly than raw year fields.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Review  ·  Confidential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180015" y="65836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AMES HOUSING  ·  PRICE PREDICTION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62495" y="1645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Domain-aware transforms that preserve information and avoid leakage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71323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80160"/>
            <a:ext cx="777240" cy="594360"/>
          </a:xfrm>
          <a:prstGeom prst="roundRect">
            <a:avLst>
              <a:gd name="adj" fmla="val 7692"/>
            </a:avLst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8016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11887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15087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“None”/0 for absence features (Pool, Alley, Garage*, Bsmt*). LotFrontage by Neighborhood median. Mode for sparse categoricals.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71323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468880"/>
            <a:ext cx="777240" cy="594360"/>
          </a:xfrm>
          <a:prstGeom prst="roundRect">
            <a:avLst>
              <a:gd name="adj" fmla="val 7692"/>
            </a:avLst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6888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23774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00200" y="26974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TotalSF, TotalBath, TotalPorchSF, HouseAge, RemodAge, GarageAge, OverallGrade, binary flags (HasPool, HasFireplace…).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71323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657600"/>
            <a:ext cx="777240" cy="594360"/>
          </a:xfrm>
          <a:prstGeom prst="roundRect">
            <a:avLst>
              <a:gd name="adj" fmla="val 7692"/>
            </a:avLst>
          </a:prstGeom>
          <a:solidFill>
            <a:srgbClr val="2A9D8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65760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35661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0200" y="38862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maps (Ex→5 … Po→1) for quality/condition. One-hot for remaining nominals. CentralAir → binary.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617720"/>
            <a:ext cx="71323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4846320"/>
            <a:ext cx="777240" cy="594360"/>
          </a:xfrm>
          <a:prstGeom prst="roundRect">
            <a:avLst>
              <a:gd name="adj" fmla="val 7692"/>
            </a:avLst>
          </a:prstGeom>
          <a:solidFill>
            <a:srgbClr val="2A9D8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846320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00200" y="47548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00200" y="50749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 on continuous features with |skew| &gt; 0.75. Drop near-constant columns (Utilities, Street).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818120" y="1051560"/>
            <a:ext cx="3977640" cy="4892040"/>
          </a:xfrm>
          <a:prstGeom prst="roundRect">
            <a:avLst>
              <a:gd name="adj" fmla="val 2299"/>
            </a:avLst>
          </a:prstGeom>
          <a:solidFill>
            <a:srgbClr val="1B3A4B"/>
          </a:solidFill>
          <a:ln/>
        </p:spPr>
      </p:sp>
      <p:sp>
        <p:nvSpPr>
          <p:cNvPr id="28" name="Text 26"/>
          <p:cNvSpPr/>
          <p:nvPr/>
        </p:nvSpPr>
        <p:spPr>
          <a:xfrm>
            <a:off x="809244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92440" y="17830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212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8092440" y="320040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engineering, before selection. All steps fit on train only and applied identically to test.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092440" y="47548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log1p(SalePrice) used as modeling target to stabilize variance.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Review  ·  Confidential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180015" y="65836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AMES HOUSING  ·  PRICE PREDICTION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62495" y="1645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212 → 80 features with no loss in cross-validated accuracy</a:t>
            </a:r>
            <a:endParaRPr lang="en-US" sz="1800" dirty="0"/>
          </a:p>
        </p:txBody>
      </p:sp>
      <p:pic>
        <p:nvPicPr>
          <p:cNvPr id="7" name="Image 0" descr="/home/workdir/artifacts/Reports/viz_figures/06_rf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6217920" cy="5029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75120" y="1005840"/>
            <a:ext cx="512064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903720" y="1188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path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90372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212  →  ~200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903720" y="20574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threshold (0.01)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903720" y="2743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~200  →  ~190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903720" y="3108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|corr| &gt; 0.95 pairs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903720" y="3794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~190  →  80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903720" y="41605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 (Random Forest, k=80)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903720" y="50292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 unchanged after reduction — selected set is sufficient and simpler to deploy.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Review  ·  Confidential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180015" y="65836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AMES HOUSING  ·  PRICE PREDICTION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62495" y="1645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models + simple average — lowest OOF error without added complexity</a:t>
            </a:r>
            <a:endParaRPr lang="en-US" sz="1700" dirty="0"/>
          </a:p>
        </p:txBody>
      </p:sp>
      <p:pic>
        <p:nvPicPr>
          <p:cNvPr id="7" name="Image 0" descr="/home/workdir/artifacts/Reports/model_figures/01_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943600" cy="365760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005840"/>
          <a:ext cx="5394960" cy="3291840"/>
        </p:xfrm>
        <a:graphic>
          <a:graphicData uri="http://schemas.openxmlformats.org/drawingml/2006/table">
            <a:tbl>
              <a:tblPr/>
              <a:tblGrid>
                <a:gridCol w="2560320"/>
                <a:gridCol w="1645920"/>
                <a:gridCol w="11887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RMSE (log)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3A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(α=50)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HistGradientBoosting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3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average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4937760"/>
            <a:ext cx="3657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57200" y="5029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$15,200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57200" y="5577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MAE ($)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297680" y="4937760"/>
            <a:ext cx="3657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297680" y="5029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$29,250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297680" y="5577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RMSE ($)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38160" y="4937760"/>
            <a:ext cx="36576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8138160" y="5029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0.864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8138160" y="5577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R²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72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Review  ·  Confidential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0180015" y="65836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AMES HOUSING  ·  PRICE PREDICTION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62495" y="1645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Post-FE relationships confirm TotalSF, age, and quality composites carry signal</a:t>
            </a:r>
            <a:endParaRPr lang="en-US" sz="1700" dirty="0"/>
          </a:p>
        </p:txBody>
      </p:sp>
      <p:pic>
        <p:nvPicPr>
          <p:cNvPr id="7" name="Image 0" descr="/home/workdir/artifacts/Reports/viz_figures/02_engineered_vs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7772400" cy="5120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0" y="960120"/>
            <a:ext cx="3566160" cy="5120640"/>
          </a:xfrm>
          <a:prstGeom prst="roundRect">
            <a:avLst>
              <a:gd name="adj" fmla="val 2564"/>
            </a:avLst>
          </a:prstGeom>
          <a:solidFill>
            <a:srgbClr val="1B3A4B"/>
          </a:solidFill>
          <a:ln/>
        </p:spPr>
      </p:sp>
      <p:sp>
        <p:nvSpPr>
          <p:cNvPr id="9" name="Text 6"/>
          <p:cNvSpPr/>
          <p:nvPr/>
        </p:nvSpPr>
        <p:spPr>
          <a:xfrm>
            <a:off x="8458200" y="1280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FEATURES?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458200" y="228600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TotalSF aggregates basement + floors into one size measure that models prefer over separate area fields.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HouseAge / RemodAge capture depreciation and update premiums more cleanly than YearBuilt alone.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flags (HasFireplace, HasGarage) give tree models simple high-signal splits.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Review  ·  Confidential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180015" y="65836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AMES HOUSING  ·  PRICE PREDICTION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62495" y="1645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PREDICTIONS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1,459 predictions — distribution aligns closely with training SalePrice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21945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143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1,459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97480" y="1051560"/>
            <a:ext cx="21945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97480" y="1143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$177k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9748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1051560"/>
            <a:ext cx="21945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1143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$156k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2920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60920" y="1051560"/>
            <a:ext cx="21945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60920" y="1143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6092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92640" y="1051560"/>
            <a:ext cx="21945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92640" y="1143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$530k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9264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46888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162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580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vs predicted distribution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108960"/>
          <a:ext cx="5029200" cy="2651760"/>
        </p:xfrm>
        <a:graphic>
          <a:graphicData uri="http://schemas.openxmlformats.org/drawingml/2006/table">
            <a:tbl>
              <a:tblPr/>
              <a:tblGrid>
                <a:gridCol w="1645920"/>
                <a:gridCol w="1691640"/>
                <a:gridCol w="1691640"/>
              </a:tblGrid>
              <a:tr h="441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$180,921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$177,154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$163,000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$155,887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$79,443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$73,840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25th pct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$129,975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$127,909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75th pct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$214,000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$207,602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B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6217920" y="2468880"/>
            <a:ext cx="5577840" cy="3566160"/>
          </a:xfrm>
          <a:prstGeom prst="roundRect">
            <a:avLst>
              <a:gd name="adj" fmla="val 2051"/>
            </a:avLst>
          </a:prstGeom>
          <a:solidFill>
            <a:srgbClr val="1B3A4B"/>
          </a:solidFill>
          <a:ln/>
        </p:spPr>
      </p:sp>
      <p:sp>
        <p:nvSpPr>
          <p:cNvPr id="26" name="Text 23"/>
          <p:cNvSpPr/>
          <p:nvPr/>
        </p:nvSpPr>
        <p:spPr>
          <a:xfrm>
            <a:off x="649224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PACKAGE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492240" y="315468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submission.csv — Id + SalePrice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models/ — 4 joblib models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processed/ — 80-feature matrices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Kernels/01–06 — audit notebooks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This management deck (PPT + PDF)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paths under artifacts/ for full reproducibility.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Review  ·  Confidential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0180015" y="65836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AMES HOUSING  ·  PRICE PREDICTION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62495" y="1645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· Monitor · Improve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12471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80160"/>
            <a:ext cx="868680" cy="640080"/>
          </a:xfrm>
          <a:prstGeom prst="roundRect">
            <a:avLst>
              <a:gd name="adj" fmla="val 7143"/>
            </a:avLst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8016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11887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the ensemble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3736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4-model average for batch valuation. Expected error band $15k–$30k on typical homes. Owner: Analytics. Timing: immediate after approval.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112471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514600"/>
            <a:ext cx="868680" cy="640080"/>
          </a:xfrm>
          <a:prstGeom prst="roundRect">
            <a:avLst>
              <a:gd name="adj" fmla="val 7143"/>
            </a:avLst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1460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37360" y="24231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monitoring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737360" y="2788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residual mean and RMSE on new closed sales quarterly. Retrain trigger: RMSE drift &gt; 15%. Owner: Data Eng + Analytics.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112471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749040"/>
            <a:ext cx="868680" cy="640080"/>
          </a:xfrm>
          <a:prstGeom prst="roundRect">
            <a:avLst>
              <a:gd name="adj" fmla="val 7143"/>
            </a:avLst>
          </a:prstGeom>
          <a:solidFill>
            <a:srgbClr val="2A9D8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74904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737360" y="36576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the pipeline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737360" y="40233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imputation rules, ordinal maps, and the 80-feature list to a versioned production transform. Owner: Analytics. Timing: this sprint.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754880"/>
            <a:ext cx="112471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4983480"/>
            <a:ext cx="868680" cy="640080"/>
          </a:xfrm>
          <a:prstGeom prst="roundRect">
            <a:avLst>
              <a:gd name="adj" fmla="val 7143"/>
            </a:avLst>
          </a:prstGeom>
          <a:solidFill>
            <a:srgbClr val="2A9D8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98348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737360" y="48920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Next-wave improvements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737360" y="5257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LightGBM/XGBoost + stacking; nested target-encoding for Neighborhood; collect post-2010 sales for market-trend features. Expected gain: 2–4% RMSE.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Review  ·  Confidential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180015" y="65836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DECISION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deployment of the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Ames housing price ensemble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RMSE ≈ $29k  ·  R² 0.86  ·  80 features  ·  Full audit trail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Team  ·  October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Ames Housing Price Prediction — Management Review</dc:title>
  <dc:subject>Detailed analysis review for management</dc:subject>
  <dc:creator>Data Analytics Team</dc:creator>
  <cp:lastModifiedBy>Data Analytics Team</cp:lastModifiedBy>
  <cp:revision>1</cp:revision>
  <dcterms:created xsi:type="dcterms:W3CDTF">2026-10-08T17:40:54Z</dcterms:created>
  <dcterms:modified xsi:type="dcterms:W3CDTF">2026-10-08T17:40:54Z</dcterms:modified>
</cp:coreProperties>
</file>